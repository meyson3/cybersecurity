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application/vnd.openxmlformats-package.relationships+xml" Extension="rels"/>
  <Override ContentType="application/vnd.openxmlformats-officedocument.presentationml.notesSlide+xml" PartName="/ppt/notesSlides/notesSlide1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59" r:id="rId4"/>
  </p:sldMasterIdLst>
  <p:notesMasterIdLst>
    <p:notesMasterId r:id="rId5"/>
  </p:notesMasterIdLst>
  <p:sldIdLst>
    <p:sldId id="256" r:id="rId6"/>
  </p:sldIdLst>
  <p:sldSz cy="5143500" cx="9144000"/>
  <p:notesSz cx="6858000" cy="9144000"/>
  <p:embeddedFontLst>
    <p:embeddedFont>
      <p:font typeface="Roboto"/>
      <p:regular r:id="rId7"/>
      <p:bold r:id="rId8"/>
      <p:italic r:id="rId9"/>
      <p:boldItalic r:id="rId10"/>
    </p:embeddedFont>
    <p:embeddedFont>
      <p:font typeface="Google Sans"/>
      <p:regular r:id="rId11"/>
      <p:bold r:id="rId12"/>
      <p:italic r:id="rId13"/>
      <p:boldItalic r:id="rId14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11" Type="http://schemas.openxmlformats.org/officeDocument/2006/relationships/font" Target="fonts/GoogleSans-regular.fntdata"/><Relationship Id="rId10" Type="http://schemas.openxmlformats.org/officeDocument/2006/relationships/font" Target="fonts/Roboto-boldItalic.fntdata"/><Relationship Id="rId13" Type="http://schemas.openxmlformats.org/officeDocument/2006/relationships/font" Target="fonts/GoogleSans-italic.fntdata"/><Relationship Id="rId12" Type="http://schemas.openxmlformats.org/officeDocument/2006/relationships/font" Target="fonts/GoogleSans-bold.fntdata"/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font" Target="fonts/Roboto-italic.fntdata"/><Relationship Id="rId14" Type="http://schemas.openxmlformats.org/officeDocument/2006/relationships/font" Target="fonts/GoogleSans-boldItalic.fntdata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7" Type="http://schemas.openxmlformats.org/officeDocument/2006/relationships/font" Target="fonts/Roboto-regular.fntdata"/><Relationship Id="rId8" Type="http://schemas.openxmlformats.org/officeDocument/2006/relationships/font" Target="fonts/Roboto-bold.fntdata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2" name="Google Shape;52;p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1" name="Google Shape;11;p2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2" name="Google Shape;12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5" name="Google Shape;15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8" name="Google Shape;18;p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9" name="Google Shape;19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2" name="Google Shape;22;p5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3" name="Google Shape;23;p5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4" name="Google Shape;24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7" name="Google Shape;27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0" name="Google Shape;30;p7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1" name="Google Shape;31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34" name="Google Shape;34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" name="Google Shape;37;p9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38" name="Google Shape;38;p9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39" name="Google Shape;39;p9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0" name="Google Shape;40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43" name="Google Shape;43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7" name="Google Shape;47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1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3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13"/>
          <p:cNvSpPr/>
          <p:nvPr/>
        </p:nvSpPr>
        <p:spPr>
          <a:xfrm>
            <a:off x="3744909" y="70550"/>
            <a:ext cx="5109300" cy="5109300"/>
          </a:xfrm>
          <a:prstGeom prst="ellipse">
            <a:avLst/>
          </a:prstGeom>
          <a:solidFill>
            <a:srgbClr val="E6B8AF">
              <a:alpha val="38750"/>
            </a:srgbClr>
          </a:solidFill>
          <a:ln cap="flat" cmpd="sng" w="28575">
            <a:solidFill>
              <a:srgbClr val="EA999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55" name="Google Shape;55;p13"/>
          <p:cNvGrpSpPr/>
          <p:nvPr/>
        </p:nvGrpSpPr>
        <p:grpSpPr>
          <a:xfrm>
            <a:off x="116741" y="70569"/>
            <a:ext cx="5109253" cy="5109253"/>
            <a:chOff x="2986712" y="1676962"/>
            <a:chExt cx="1854000" cy="1854000"/>
          </a:xfrm>
        </p:grpSpPr>
        <p:sp>
          <p:nvSpPr>
            <p:cNvPr id="56" name="Google Shape;56;p13"/>
            <p:cNvSpPr/>
            <p:nvPr/>
          </p:nvSpPr>
          <p:spPr>
            <a:xfrm>
              <a:off x="2986712" y="1676962"/>
              <a:ext cx="1854000" cy="1854000"/>
            </a:xfrm>
            <a:prstGeom prst="ellipse">
              <a:avLst/>
            </a:prstGeom>
            <a:solidFill>
              <a:srgbClr val="DEE7F2">
                <a:alpha val="64709"/>
              </a:srgbClr>
            </a:solidFill>
            <a:ln cap="flat" cmpd="sng" w="28575">
              <a:solidFill>
                <a:srgbClr val="A1C3FA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7" name="Google Shape;57;p13"/>
            <p:cNvSpPr txBox="1"/>
            <p:nvPr/>
          </p:nvSpPr>
          <p:spPr>
            <a:xfrm>
              <a:off x="3606964" y="1726110"/>
              <a:ext cx="613500" cy="2997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lnSpc>
                  <a:spcPct val="115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" sz="1700">
                  <a:solidFill>
                    <a:schemeClr val="dk1"/>
                  </a:solidFill>
                  <a:latin typeface="Google Sans"/>
                  <a:ea typeface="Google Sans"/>
                  <a:cs typeface="Google Sans"/>
                  <a:sym typeface="Google Sans"/>
                </a:rPr>
                <a:t>Wireshark</a:t>
              </a:r>
              <a:endParaRPr b="1" sz="1700">
                <a:solidFill>
                  <a:schemeClr val="dk1"/>
                </a:solidFill>
                <a:latin typeface="Google Sans"/>
                <a:ea typeface="Google Sans"/>
                <a:cs typeface="Google Sans"/>
                <a:sym typeface="Google Sans"/>
              </a:endParaRPr>
            </a:p>
          </p:txBody>
        </p:sp>
      </p:grpSp>
      <p:sp>
        <p:nvSpPr>
          <p:cNvPr id="58" name="Google Shape;58;p13"/>
          <p:cNvSpPr txBox="1"/>
          <p:nvPr/>
        </p:nvSpPr>
        <p:spPr>
          <a:xfrm>
            <a:off x="5805900" y="206050"/>
            <a:ext cx="1162500" cy="825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700">
                <a:solidFill>
                  <a:schemeClr val="dk1"/>
                </a:solidFill>
                <a:latin typeface="Google Sans"/>
                <a:ea typeface="Google Sans"/>
                <a:cs typeface="Google Sans"/>
                <a:sym typeface="Google Sans"/>
              </a:rPr>
              <a:t>tcpdump</a:t>
            </a:r>
            <a:endParaRPr b="1" sz="1700">
              <a:solidFill>
                <a:schemeClr val="dk1"/>
              </a:solidFill>
              <a:latin typeface="Google Sans"/>
              <a:ea typeface="Google Sans"/>
              <a:cs typeface="Google Sans"/>
              <a:sym typeface="Google Sans"/>
            </a:endParaRPr>
          </a:p>
        </p:txBody>
      </p:sp>
      <p:sp>
        <p:nvSpPr>
          <p:cNvPr id="59" name="Google Shape;59;p13"/>
          <p:cNvSpPr txBox="1"/>
          <p:nvPr/>
        </p:nvSpPr>
        <p:spPr>
          <a:xfrm>
            <a:off x="3961275" y="486375"/>
            <a:ext cx="1120200" cy="48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3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Similarities</a:t>
            </a:r>
            <a:endParaRPr sz="1000">
              <a:solidFill>
                <a:srgbClr val="FFFFFF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60" name="Google Shape;60;p13"/>
          <p:cNvSpPr txBox="1"/>
          <p:nvPr/>
        </p:nvSpPr>
        <p:spPr>
          <a:xfrm>
            <a:off x="1539766" y="1574345"/>
            <a:ext cx="27777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61" name="Google Shape;61;p13"/>
          <p:cNvSpPr txBox="1"/>
          <p:nvPr/>
        </p:nvSpPr>
        <p:spPr>
          <a:xfrm>
            <a:off x="1084463" y="1149752"/>
            <a:ext cx="2777700" cy="1716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b="1" lang="en" sz="1100">
                <a:solidFill>
                  <a:schemeClr val="dk1"/>
                </a:solidFill>
              </a:rPr>
              <a:t>Wireshark</a:t>
            </a:r>
            <a:r>
              <a:rPr lang="en" sz="1100">
                <a:solidFill>
                  <a:schemeClr val="dk1"/>
                </a:solidFill>
              </a:rPr>
              <a:t>: Provides a graphical user interface (GUI) that allows users to interact with captured packets visually</a:t>
            </a:r>
            <a:endParaRPr sz="1100">
              <a:solidFill>
                <a:schemeClr val="dk1"/>
              </a:solidFill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b="1" lang="en" sz="1100">
                <a:solidFill>
                  <a:schemeClr val="dk1"/>
                </a:solidFill>
              </a:rPr>
              <a:t>Wireshark</a:t>
            </a:r>
            <a:r>
              <a:rPr lang="en" sz="1100">
                <a:solidFill>
                  <a:schemeClr val="dk1"/>
                </a:solidFill>
              </a:rPr>
              <a:t>: Offers deep packet inspection with built-in protocol analysis, filtering, and visualization..</a:t>
            </a:r>
            <a:endParaRPr sz="11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62" name="Google Shape;62;p13"/>
          <p:cNvSpPr txBox="1"/>
          <p:nvPr/>
        </p:nvSpPr>
        <p:spPr>
          <a:xfrm>
            <a:off x="3578100" y="803775"/>
            <a:ext cx="1647900" cy="4248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-2921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Roboto"/>
              <a:buChar char="●"/>
            </a:pPr>
            <a:r>
              <a:rPr b="1" lang="en" sz="1100">
                <a:solidFill>
                  <a:schemeClr val="dk1"/>
                </a:solidFill>
              </a:rPr>
              <a:t>Packet Capture</a:t>
            </a:r>
            <a:r>
              <a:rPr lang="en" sz="1100">
                <a:solidFill>
                  <a:schemeClr val="dk1"/>
                </a:solidFill>
              </a:rPr>
              <a:t>: Both tools capture network packets in real-time for analysis.</a:t>
            </a:r>
            <a:endParaRPr sz="1100">
              <a:solidFill>
                <a:schemeClr val="dk1"/>
              </a:solidFill>
            </a:endParaRPr>
          </a:p>
          <a:p>
            <a:pPr indent="-2921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Roboto"/>
              <a:buChar char="●"/>
            </a:pPr>
            <a:r>
              <a:rPr b="1" lang="en" sz="1100">
                <a:solidFill>
                  <a:schemeClr val="dk1"/>
                </a:solidFill>
              </a:rPr>
              <a:t>Filtering</a:t>
            </a:r>
            <a:r>
              <a:rPr lang="en" sz="1100">
                <a:solidFill>
                  <a:schemeClr val="dk1"/>
                </a:solidFill>
              </a:rPr>
              <a:t>: Both allow users to apply filters to capture or display specific network traffic.</a:t>
            </a:r>
            <a:endParaRPr sz="1100">
              <a:solidFill>
                <a:schemeClr val="dk1"/>
              </a:solidFill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b="1" lang="en" sz="1100">
                <a:solidFill>
                  <a:schemeClr val="dk1"/>
                </a:solidFill>
              </a:rPr>
              <a:t>Open Source</a:t>
            </a:r>
            <a:r>
              <a:rPr lang="en" sz="1100">
                <a:solidFill>
                  <a:schemeClr val="dk1"/>
                </a:solidFill>
              </a:rPr>
              <a:t>: Both are open-source tools widely used in cybersecurity and network diagnostics.</a:t>
            </a:r>
            <a:endParaRPr sz="1100">
              <a:solidFill>
                <a:schemeClr val="dk1"/>
              </a:solidFill>
            </a:endParaRPr>
          </a:p>
        </p:txBody>
      </p:sp>
      <p:sp>
        <p:nvSpPr>
          <p:cNvPr id="63" name="Google Shape;63;p13"/>
          <p:cNvSpPr txBox="1"/>
          <p:nvPr/>
        </p:nvSpPr>
        <p:spPr>
          <a:xfrm>
            <a:off x="4998288" y="1149752"/>
            <a:ext cx="2777700" cy="1522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-29845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b="1" lang="en" sz="1100">
                <a:solidFill>
                  <a:schemeClr val="dk1"/>
                </a:solidFill>
              </a:rPr>
              <a:t>tcpdump</a:t>
            </a:r>
            <a:r>
              <a:rPr lang="en" sz="1100">
                <a:solidFill>
                  <a:schemeClr val="dk1"/>
                </a:solidFill>
              </a:rPr>
              <a:t>: A command-line tool that captures and displays packets in the terminal.</a:t>
            </a:r>
            <a:endParaRPr sz="1100">
              <a:solidFill>
                <a:schemeClr val="dk1"/>
              </a:solidFill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b="1" lang="en" sz="1100">
                <a:solidFill>
                  <a:schemeClr val="dk1"/>
                </a:solidFill>
              </a:rPr>
              <a:t>tcpdump</a:t>
            </a:r>
            <a:r>
              <a:rPr lang="en" sz="1100">
                <a:solidFill>
                  <a:schemeClr val="dk1"/>
                </a:solidFill>
              </a:rPr>
              <a:t>: Primarily used for capturing packets with filtering capabilities but lacks built-in visualization and deep analysis.</a:t>
            </a:r>
            <a:endParaRPr sz="11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